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3"/>
    <p:sldId id="272" r:id="rId22"/>
    <p:sldId id="273" r:id="rId21"/>
    <p:sldId id="274" r:id="rId20"/>
    <p:sldId id="275" r:id="rId19"/>
    <p:sldId id="276" r:id="rId18"/>
    <p:sldId id="277" r:id="rId17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9144000" cy="5143500" type="screen16x9"/>
  <p:notesSz cx="6858000" cy="9144000"/>
  <p:embeddedFontLst>
    <p:embeddedFont>
      <p:font typeface="Comfortaa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32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22.xml"/><Relationship Id="rId18" Type="http://schemas.openxmlformats.org/officeDocument/2006/relationships/slide" Target="slides/slide21.xml"/><Relationship Id="rId19" Type="http://schemas.openxmlformats.org/officeDocument/2006/relationships/slide" Target="slides/slide20.xml"/><Relationship Id="rId20" Type="http://schemas.openxmlformats.org/officeDocument/2006/relationships/slide" Target="slides/slide19.xml"/><Relationship Id="rId21" Type="http://schemas.openxmlformats.org/officeDocument/2006/relationships/slide" Target="slides/slide18.xml"/><Relationship Id="rId22" Type="http://schemas.openxmlformats.org/officeDocument/2006/relationships/slide" Target="slides/slide17.xml"/><Relationship Id="rId23" Type="http://schemas.openxmlformats.org/officeDocument/2006/relationships/slide" Target="slides/slide16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aa0760a9f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aa0760a9f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c58db12da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4" name="Google Shape;104;g2fc58db12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3bcb75f2b_0_52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" name="Google Shape;112;g313bcb75f2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9a5ea6e70_0_84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0" name="Google Shape;120;g2c9a5ea6e70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a0036e7dc_0_388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" name="Google Shape;127;g2aa0036e7dc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a0036e7dc_0_394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" name="Google Shape;134;g2aa0036e7dc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aa0036e7dc_0_40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2159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1" name="Google Shape;141;g2aa0036e7dc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c6c79964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c6c799643_1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http://www.tkdocs.com/tutorial/install.html#installwin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4f98ab3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74f98ab383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http://www.tkdocs.com/tutorial/install.html#installwin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a0036e7dc_0_412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2" name="Google Shape;162;g2aa0036e7dc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a0036e7dc_0_417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69" name="Google Shape;169;g2aa0036e7dc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f122f0898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76" name="Google Shape;176;g26f122f0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3b58605e8_0_0:notes"/>
          <p:cNvSpPr txBox="1">
            <a:spLocks noGrp="1"/>
          </p:cNvSpPr>
          <p:nvPr>
            <p:ph type="body" idx="1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75" tIns="88575" rIns="88575" bIns="8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83" name="Google Shape;183;g273b58605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f6ea3d2ae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0" name="Google Shape;190;g27f6ea3d2ae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91" name="Google Shape;191;g27f6ea3d2ae_0_191:notes"/>
          <p:cNvSpPr txBox="1"/>
          <p:nvPr/>
        </p:nvSpPr>
        <p:spPr>
          <a:xfrm>
            <a:off x="3884612" y="8685212"/>
            <a:ext cx="297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fld id="{00000000-1234-1234-1234-123412341234}" type="slidenum"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f6ea3d2ae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g27f6ea3d2ae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4 points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8 points">
  <p:cSld name="TITLE_AND_BODY_2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age">
  <p:cSld name="TITLE_AND_BODY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 b="1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28" name="Google Shape;28;p6"/>
          <p:cNvGrpSpPr/>
          <p:nvPr/>
        </p:nvGrpSpPr>
        <p:grpSpPr>
          <a:xfrm>
            <a:off x="152400" y="2782900"/>
            <a:ext cx="4030969" cy="2010404"/>
            <a:chOff x="152400" y="2782900"/>
            <a:chExt cx="4030969" cy="2010404"/>
          </a:xfrm>
        </p:grpSpPr>
        <p:pic>
          <p:nvPicPr>
            <p:cNvPr id="29" name="Google Shape;2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94925" y="2782900"/>
              <a:ext cx="2441400" cy="111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7900" y="3955174"/>
              <a:ext cx="3135469" cy="7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6" descr="tertiarylogo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3897803"/>
              <a:ext cx="895500" cy="89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Title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24965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82570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column">
  <p:cSld name="TITLE_AND_TWO_COLUMNS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249650" y="775625"/>
            <a:ext cx="49755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right column">
  <p:cSld name="TITLE_AND_TWO_COLUMNS_1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4051250" y="775625"/>
            <a:ext cx="4880400" cy="4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96;p36">
            <a:extLst>
              <a:ext uri="{FF2B5EF4-FFF2-40B4-BE49-F238E27FC236}">
                <a16:creationId xmlns:a16="http://schemas.microsoft.com/office/drawing/2014/main" id="{EDF8B63C-F25B-C33D-2F61-297B24F1C5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49;p11">
            <a:extLst>
              <a:ext uri="{FF2B5EF4-FFF2-40B4-BE49-F238E27FC236}">
                <a16:creationId xmlns:a16="http://schemas.microsoft.com/office/drawing/2014/main" id="{64A09343-B1C1-8CE5-DDD7-D7012580FB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10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" name="Google Shape;15;p3">
            <a:extLst>
              <a:ext uri="{FF2B5EF4-FFF2-40B4-BE49-F238E27FC236}">
                <a16:creationId xmlns:a16="http://schemas.microsoft.com/office/drawing/2014/main" id="{AF4F0E9E-A916-0ADF-9D16-657CF8361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2950" y="1386361"/>
            <a:ext cx="8678100" cy="3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86221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97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 i="0" u="none" strike="noStrike" cap="none">
                <a:solidFill>
                  <a:schemeClr val="dk1"/>
                </a:solidFill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9350" y="688375"/>
            <a:ext cx="8891700" cy="4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Pte Ltd (UEN: 20120096W). All Rights Reserved</a:t>
            </a:r>
            <a:endParaRPr sz="9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lassroom.google.com/c/NjcyMjU4NzA1OTgz?cjc=ipnbph2" TargetMode="External"/><Relationship Id="rId4" Type="http://schemas.openxmlformats.org/officeDocument/2006/relationships/hyperlink" Target="https://classroom.google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Java Programming Methodologies</a:t>
            </a:r>
            <a:endParaRPr sz="4200" dirty="0"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Version: 10.0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Trainer: ________________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Course Code: TGS-2024048313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Website: www.tertiarycourses.com.sg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Email: enquiry@tertiaryinfotech.com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Tel: +65 6100 0613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6129000" cy="42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It is mandatory for you to take both AM and PM digital attendance especially for WSQ courses.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The trainer or administrator will show you the digital attendance QR code generated from TPG.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fortaa"/>
              <a:buChar char="●"/>
            </a:pPr>
            <a:r>
              <a:t>Please scan the QR code from your Singpass App and submit your attendance. 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07" name="Google Shape;1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7250" y="906925"/>
            <a:ext cx="2843575" cy="341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Digital Attendance</a:t>
            </a:r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About the Trainer</a:t>
            </a:r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Please add the following info to this page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Screenshot of your LInkedin Profile (with profile image)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QR code to your Linkedin 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Certifications eg PL-100, AWS, CISA….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Sample below</a:t>
            </a: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3</a:t>
            </a:r>
          </a:p>
        </p:txBody>
      </p:sp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794" y="2119575"/>
            <a:ext cx="4573839" cy="261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4</a:t>
            </a:r>
          </a:p>
        </p:txBody>
      </p:sp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00" y="685950"/>
            <a:ext cx="7802604" cy="44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Let's Know Each Other...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Set your mobile phone to silent mode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Actively participate in the class. No question is stupid.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Respect each other view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>Exit the class silently if you need to step out for phone call, toilet break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30" name="Google Shape;13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5</a:t>
            </a:r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Ground Rules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Lesson Plan</a:t>
            </a:r>
            <a:endParaRPr sz="3600" i="0" u="none" strike="noStrike" cap="none"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Day 1 </a:t>
            </a:r>
            <a:endParaRPr sz="2400" b="1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t>Digital Attendance (AM)</a:t>
            </a:r>
            <a:endParaRPr sz="2400" b="1" dirty="0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Trainer and Learners Introduction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Learning Outcomes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Course Outline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Topic 1: ….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Lunch Break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t>Digital Attendance (PM)</a:t>
            </a:r>
            <a:endParaRPr sz="2400" b="1" dirty="0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Topic 2: …. 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End of Day 1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</p:txBody>
      </p:sp>
      <p:sp>
        <p:nvSpPr>
          <p:cNvPr id="138" name="Google Shape;13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Lesson Plan</a:t>
            </a:r>
            <a:endParaRPr sz="3600" i="0" u="none" strike="noStrike" cap="none"/>
          </a:p>
        </p:txBody>
      </p:sp>
      <p:sp>
        <p:nvSpPr>
          <p:cNvPr id="144" name="Google Shape;144;p29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Day 2 </a:t>
            </a: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t>Digital Attendance (AM)</a:t>
            </a:r>
            <a:endParaRPr sz="2400" b="1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>Topic 3 …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Lunch Break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t>Digital Attendance (PM)</a:t>
            </a:r>
            <a:endParaRPr sz="2400" b="1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Revision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>Digital Attendance (Assessment)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Final Assessment 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t>Course Feedback and TRAQOM Survey</a:t>
            </a:r>
            <a:endParaRPr sz="2400" b="1">
              <a:solidFill>
                <a:srgbClr val="FF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End of Class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</p:txBody>
      </p:sp>
      <p:sp>
        <p:nvSpPr>
          <p:cNvPr id="145" name="Google Shape;14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8</a:t>
            </a:r>
          </a:p>
        </p:txBody>
      </p:sp>
      <p:sp>
        <p:nvSpPr>
          <p:cNvPr id="151" name="Google Shape;151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Skills Framework</a:t>
            </a:r>
            <a:endParaRPr dirty="0"/>
          </a:p>
        </p:txBody>
      </p:sp>
      <p:sp>
        <p:nvSpPr>
          <p:cNvPr id="152" name="Google Shape;152;p30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TSC Title: Data Governance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TSC Code: ICT-DES-4005-1.1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TSC Abilities:</a:t>
            </a:r>
            <a:endParaRPr lang="en-SG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A1: Create a software design blueprint based on a broad design concept, and business and user requirements</a:t>
            </a:r>
            <a:br/>
            <a:r>
              <a:t>A2: Recommend appropriate standards, methods and tools for the design of software, in line with the organisation's practice and design principles</a:t>
            </a:r>
            <a:br/>
            <a:r>
              <a:t>A3: Design functional specifications of software systems to address business and user needs</a:t>
            </a:r>
            <a:br/>
            <a:r>
              <a:t>A4: Evaluate trade offs from the incorporation of different elements into the design, and their impact on overall functionality, interoperability, efficiency and costs of the software</a:t>
            </a:r>
            <a:br/>
            <a:r>
              <a:t>A5: Produce design documentation for complex software</a:t>
            </a:r>
            <a:br/>
            <a:r>
              <a:t>A6: Review design documentations produced</a:t>
            </a:r>
            <a:endParaRPr lang="en-US" sz="18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TSC Knowledge:</a:t>
            </a:r>
            <a:endParaRPr lang="en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K1: Components and requirements of a software design blueprint</a:t>
            </a:r>
            <a:br/>
            <a:r>
              <a:t>K2: Software design standards, methods and tools - and their pros, cons and applications</a:t>
            </a:r>
            <a:br/>
            <a:r>
              <a:t>K3: Requirements of functional specifications of software</a:t>
            </a:r>
            <a:br/>
            <a:r>
              <a:t>K4: Impact of different software design elements on overall software operations and usability</a:t>
            </a:r>
            <a:endParaRPr sz="1400" dirty="0">
              <a:latin typeface="+mn-lt"/>
            </a:endParaRPr>
          </a:p>
        </p:txBody>
      </p:sp>
      <p:sp>
        <p:nvSpPr>
          <p:cNvPr id="158" name="Google Shape;15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9</a:t>
            </a:r>
          </a:p>
        </p:txBody>
      </p:sp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Skills Framework TSC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/>
            <a:r>
              <a:t>LO1: Develop a software design blueprint based on Java programming integrating design concepts with user requirements.</a:t>
            </a:r>
          </a:p>
          <a:p>
            <a:pPr/>
            <a:r>
              <a:t>LO2: Develop software design standards using Java Object Oriented Programming methodologies.</a:t>
            </a:r>
          </a:p>
          <a:p>
            <a:pPr/>
            <a:r>
              <a:t>LO3: Design Java data structures and API for software systems tailored to meet business and user needs.</a:t>
            </a:r>
          </a:p>
          <a:p>
            <a:pPr/>
            <a:r>
              <a:t>LO4: Evaluate the issues involved in Java applications using debugging and exception handling tools.</a:t>
            </a:r>
          </a:p>
          <a:p>
            <a:pPr/>
            <a:r>
              <a:t>LO5: Produce design documentation using Java generics to ensure conformity to technical standards.</a:t>
            </a:r>
          </a:p>
        </p:txBody>
      </p:sp>
      <p:sp>
        <p:nvSpPr>
          <p:cNvPr id="165" name="Google Shape;1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Learning Outcomes</a:t>
            </a:r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</a:rPr>
              <a:t>&lt;COURSE_OUTLINE&gt;</a:t>
            </a:r>
            <a:endParaRPr lang="en-SG" sz="1200" dirty="0"/>
          </a:p>
        </p:txBody>
      </p:sp>
      <p:sp>
        <p:nvSpPr>
          <p:cNvPr id="172" name="Google Shape;172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Outline</a:t>
            </a:r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 b="1" dirty="0">
              <a:solidFill>
                <a:schemeClr val="dk1"/>
              </a:solidFill>
            </a:endParaRPr>
          </a:p>
          <a:p>
            <a:pPr/>
            <a:r>
              <a:t>Written Assessment (SAQ)</a:t>
            </a:r>
          </a:p>
          <a:p>
            <a:pPr/>
            <a:r>
              <a:t>Practical Performance (PP)</a:t>
            </a:r>
          </a:p>
        </p:txBody>
      </p:sp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Final Assessment</a:t>
            </a:r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t>You can access more resources from Google classroom LMS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t>https://classroom.google.com/c/NjcyMjU4NzA1OTgz?cjc=ipnbph2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t>Alternatively. You can goto https://classroom.google.com and enter the class code  on the top right.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Google Class code: ipnbph2</a:t>
            </a:r>
            <a:endParaRPr>
              <a:solidFill>
                <a:schemeClr val="dk1"/>
              </a:solidFill>
            </a:endParaRPr>
          </a:p>
          <a:p>
            <a:pPr marL="1828800" lvl="0" indent="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86" name="Google Shape;18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13</a:t>
            </a:r>
          </a:p>
        </p:txBody>
      </p:sp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Access Google Classroom LMS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1430B-EA2E-213C-D55C-90ACFDAE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" y="0"/>
            <a:ext cx="9144000" cy="1051610"/>
          </a:xfrm>
        </p:spPr>
        <p:txBody>
          <a:bodyPr/>
          <a:lstStyle/>
          <a:p>
            <a:r>
              <a:t>CERTIFICATE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13585-5CC7-85CA-8173-472C4F391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50" y="1368431"/>
            <a:ext cx="8678100" cy="3284700"/>
          </a:xfrm>
        </p:spPr>
        <p:txBody>
          <a:bodyPr/>
          <a:lstStyle/>
          <a:p>
            <a:pPr marL="76200" indent="0">
              <a:buNone/>
            </a:pPr>
            <a:r>
              <a:t>Two e-certificates will be awarded to trainees who have demonstrated competency in the WSQ assessment and achieved at least 75% attendance.</a:t>
            </a:r>
          </a:p>
          <a:p>
            <a:pPr marL="76200" indent="0">
              <a:buNone/>
            </a:pPr>
            <a:endParaRPr lang="en-US" dirty="0"/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tabLst/>
              <a:defRPr/>
            </a:pPr>
            <a:r>
              <a:t>A SkillsFuture WSQ Statement of Attainment (SOA) issued by WSG. Typically take 4 weeks</a:t>
            </a:r>
          </a:p>
          <a:p>
            <a:pPr marL="4572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tabLst/>
              <a:defRPr/>
            </a:pPr>
            <a:r>
              <a:t>Certification of Completion issued by Tertiary Infotech Pte Ltd, immediately after the course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15</a:t>
            </a:r>
          </a:p>
        </p:txBody>
      </p:sp>
      <p:sp>
        <p:nvSpPr>
          <p:cNvPr id="202" name="Google Shape;202;p37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Topics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1: Introduction to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Editors and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Console Class</a:t>
            </a:r>
          </a:p>
          <a:p>
            <a:r>
              <a:t>Console class is referenced in the context of IntelliJ IDEA.</a:t>
            </a:r>
          </a:p>
          <a:p>
            <a:r>
              <a:t>It is utilized for interactive and multi-threaded Java applications.</a:t>
            </a:r>
          </a:p>
          <a:p>
            <a:pPr>
              <a:defRPr b="1"/>
            </a:pPr>
            <a:r>
              <a:t>File Handling Classes</a:t>
            </a:r>
          </a:p>
          <a:p>
            <a:r>
              <a:t>Various file handling classes like BufferedInputStream, BufferedOutputStream, FileInputStream, FileOutputStream, FileReader, and FileWriter are mentioned.</a:t>
            </a:r>
          </a:p>
          <a:p>
            <a:r>
              <a:t>These classes are used for reading from and writing to files in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Identifiers in Java</a:t>
            </a:r>
          </a:p>
          <a:p>
            <a:r>
              <a:t>Identifiers are fundamental components used to name various parts in a Java program.</a:t>
            </a:r>
          </a:p>
          <a:p>
            <a:r>
              <a:t>They play a crucial role in Java syntax by providing unique names to classes, variables, methods, and other program elements.</a:t>
            </a:r>
          </a:p>
          <a:p>
            <a:pPr>
              <a:defRPr b="1"/>
            </a:pPr>
            <a:r>
              <a:t>Java Syntax Rules</a:t>
            </a:r>
          </a:p>
          <a:p>
            <a:r>
              <a:t>Java syntax encompasses the rules governing the construction and understanding of Java programs.</a:t>
            </a:r>
          </a:p>
          <a:p>
            <a:r>
              <a:t>Derived from C and C++, Java syntax emphasizes object-oriented programming, avoiding features like global variables and explicit pointers.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Syntax Properties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Identifiers in Java</a:t>
            </a:r>
          </a:p>
          <a:p>
            <a:r>
              <a:t>Identifiers are fundamental components in Java used to name various parts of a program.</a:t>
            </a:r>
          </a:p>
          <a:p>
            <a:r>
              <a:t>Java's identifiers help in distinguishing variables, methods, classes, and other elements within the code.</a:t>
            </a:r>
          </a:p>
          <a:p>
            <a:pPr>
              <a:defRPr b="1"/>
            </a:pPr>
            <a:r>
              <a:t>Java Syntax Rules</a:t>
            </a:r>
          </a:p>
          <a:p>
            <a:r>
              <a:t>Java syntax refers to the format and commands used to write, compile, and run Java programs.</a:t>
            </a:r>
          </a:p>
          <a:p>
            <a:r>
              <a:t>Syntax knowledge is crucial for programmers to achieve desired outputs and avoid errors in their Java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Datatypes &amp; Literals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Variable Declaration</a:t>
            </a:r>
          </a:p>
          <a:p>
            <a:r>
              <a:t>Variables are declared to specify the data type and name of the variable.</a:t>
            </a:r>
          </a:p>
          <a:p>
            <a:r>
              <a:t>Declaration is essential before using a variable in Java programs.</a:t>
            </a:r>
          </a:p>
          <a:p>
            <a:pPr>
              <a:defRPr b="1"/>
            </a:pPr>
            <a:r>
              <a:t>Numeric Literals</a:t>
            </a:r>
          </a:p>
          <a:p>
            <a:r>
              <a:t>Numeric literals represent fixed values like integers or floating-point numbers.</a:t>
            </a:r>
          </a:p>
          <a:p>
            <a:r>
              <a:t>They are used directly in the code without any computation.</a:t>
            </a:r>
          </a:p>
          <a:p>
            <a:pPr>
              <a:defRPr b="1"/>
            </a:pPr>
            <a:r>
              <a:t>Character Data Type and Operations</a:t>
            </a:r>
          </a:p>
          <a:p>
            <a:r>
              <a:t>Characters in Java are represented using the Unicode character set.</a:t>
            </a:r>
          </a:p>
          <a:p>
            <a:r>
              <a:t>Operations on characters include conversions and manipulations.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Operators in Java</a:t>
            </a:r>
          </a:p>
          <a:p>
            <a:r>
              <a:t>Arithmetic operators perform basic mathematical operations like addition, subtraction, multiplication, and division.</a:t>
            </a:r>
          </a:p>
          <a:p>
            <a:r>
              <a:t>Relational operators compare two values and return a boolean result indicating the relationship between them.</a:t>
            </a:r>
          </a:p>
          <a:p>
            <a:pPr>
              <a:defRPr b="1"/>
            </a:pPr>
            <a:r>
              <a:t>Assignment Operators</a:t>
            </a:r>
          </a:p>
          <a:p>
            <a:r>
              <a:t>Assignment operators are used to assign values to variables, such as = for simple assignment or += for addition assignment.</a:t>
            </a:r>
          </a:p>
          <a:p>
            <a:r>
              <a:t>They allow for concise and efficient ways to update variable values based on existing values.</a:t>
            </a:r>
          </a:p>
          <a:p>
            <a:pPr>
              <a:defRPr b="1"/>
            </a:pPr>
            <a:r>
              <a:t>Logical Operators</a:t>
            </a:r>
          </a:p>
          <a:p>
            <a:r>
              <a:t>Logical operators like &amp;&amp; (AND), || (OR), and ! (NOT) are used to perform logical operations on boolean values.</a:t>
            </a:r>
          </a:p>
          <a:p>
            <a:r>
              <a:t>They are crucial for making decisions based on multiple conditions in Java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Autoboxing and Unboxing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Autoboxing</a:t>
            </a:r>
          </a:p>
          <a:p>
            <a:r>
              <a:t>Autoboxing is the automatic conversion of primitive data types to their corresponding wrapper class objects in Java.</a:t>
            </a:r>
          </a:p>
          <a:p>
            <a:r>
              <a:t>This feature simplifies the process of working with primitive data types in situations where objects are required.</a:t>
            </a:r>
          </a:p>
          <a:p>
            <a:pPr>
              <a:defRPr b="1"/>
            </a:pPr>
            <a:r>
              <a:t>Unboxing</a:t>
            </a:r>
          </a:p>
          <a:p>
            <a:r>
              <a:t>Unboxing is the reverse process of autoboxing, where wrapper class objects are automatically converted back to their primitive data types.</a:t>
            </a:r>
          </a:p>
          <a:p>
            <a:r>
              <a:t>It allows for seamless integration between primitive data types and their corresponding wrapper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Enums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Enums in Java</a:t>
            </a:r>
          </a:p>
          <a:p>
            <a:r>
              <a:t>Enums can contain both concrete and abstract methods.</a:t>
            </a:r>
          </a:p>
          <a:p>
            <a:r>
              <a:t>If an enum class has an abstract method, each instance of the enum class must implement it.</a:t>
            </a:r>
          </a:p>
          <a:p>
            <a:pPr>
              <a:defRPr b="1"/>
            </a:pPr>
            <a:r>
              <a:t>Enum Constructors and Methods</a:t>
            </a:r>
          </a:p>
          <a:p>
            <a:r>
              <a:t>Enums can have constructors and concrete methods.</a:t>
            </a:r>
          </a:p>
          <a:p>
            <a:r>
              <a:t>Each constant enum constructor is called separately, and enums can define additional methods like colorInfo().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Arrays Overview</a:t>
            </a:r>
          </a:p>
          <a:p>
            <a:r>
              <a:t>An array in Java is a collection of items of the same data type stored in contiguous memory locations.</a:t>
            </a:r>
          </a:p>
          <a:p>
            <a:r>
              <a:t>Java arrays are index-based, with the first element at the 0th index, the second at the 1st index, and so on.</a:t>
            </a:r>
          </a:p>
          <a:p>
            <a:pPr>
              <a:defRPr b="1"/>
            </a:pPr>
            <a:r>
              <a:t>Advantages of Java Arrays</a:t>
            </a:r>
          </a:p>
          <a:p>
            <a:r>
              <a:t>Java arrays optimize code for efficient data retrieval and sorting.</a:t>
            </a:r>
          </a:p>
          <a:p>
            <a:r>
              <a:t>Java arrays can store primitive values or objects and support single-dimensional and multidimensional arrays.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String Comparison</a:t>
            </a:r>
          </a:p>
          <a:p>
            <a:r>
              <a:t>String Comparison involves checking if two strings are equal or not based on their content.</a:t>
            </a:r>
          </a:p>
          <a:p>
            <a:r>
              <a:t>It is essential to use methods like equals() for accurate string comparison in Java.</a:t>
            </a:r>
          </a:p>
          <a:p>
            <a:pPr>
              <a:defRPr b="1"/>
            </a:pPr>
            <a:r>
              <a:t>String Concatenation</a:t>
            </a:r>
          </a:p>
          <a:p>
            <a:r>
              <a:t>String Concatenation is the process of combining two or more strings into a single string.</a:t>
            </a:r>
          </a:p>
          <a:p>
            <a:r>
              <a:t>In Java, the '+' operator is commonly used for string concatenation.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 and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2: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Statements, Expressions &amp;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Statements in Java</a:t>
            </a:r>
          </a:p>
          <a:p>
            <a:r>
              <a:t>Statements in Java are individual instructions that make up a program, such as variable declarations, assignments, method calls, and control flow structures like if-else and loops.</a:t>
            </a:r>
          </a:p>
          <a:p>
            <a:r>
              <a:t>Each statement in Java must end with a semicolon (;) to indicate the termination of that statement.</a:t>
            </a:r>
          </a:p>
          <a:p>
            <a:pPr>
              <a:defRPr b="1"/>
            </a:pPr>
            <a:r>
              <a:t>Expressions in Java</a:t>
            </a:r>
          </a:p>
          <a:p>
            <a:r>
              <a:t>Expressions in Java are combinations of variables, operators, and method calls that produce a single value.</a:t>
            </a:r>
          </a:p>
          <a:p>
            <a:r>
              <a:t>Java expressions can be simple, like arithmetic operations, or complex, involving method invocations and conditional operators.</a:t>
            </a:r>
          </a:p>
          <a:p>
            <a:pPr>
              <a:defRPr b="1"/>
            </a:pPr>
            <a:r>
              <a:t>Blocks in Java</a:t>
            </a:r>
          </a:p>
          <a:p>
            <a:r>
              <a:t>Blocks in Java are enclosed within curly braces {} and can contain a group of zero or more statements.</a:t>
            </a:r>
          </a:p>
          <a:p>
            <a:r>
              <a:t>Blocks are used to define the scope of variables, control structures like loops and conditionals, and method bodies.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Control statements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Decision Making statements</a:t>
            </a:r>
          </a:p>
          <a:p>
            <a:r>
              <a:t>if statements allow for conditional execution based on a boolean expression.</a:t>
            </a:r>
          </a:p>
          <a:p>
            <a:r>
              <a:t>switch statement provides a way to select one choice from multiple options.</a:t>
            </a:r>
          </a:p>
          <a:p>
            <a:pPr>
              <a:defRPr b="1"/>
            </a:pPr>
            <a:r>
              <a:t>Loop statements</a:t>
            </a:r>
          </a:p>
          <a:p>
            <a:r>
              <a:t>do-while, while, for, and for-each loops are used for repetitive execution.</a:t>
            </a:r>
          </a:p>
          <a:p>
            <a:r>
              <a:t>Loop statements help in iterating over collections or executing code multiple times.</a:t>
            </a:r>
          </a:p>
          <a:p>
            <a:pPr>
              <a:defRPr b="1"/>
            </a:pPr>
            <a:r>
              <a:t>Jump statements</a:t>
            </a:r>
          </a:p>
          <a:p>
            <a:r>
              <a:t>break statement is used to exit a loop or switch statement.</a:t>
            </a:r>
          </a:p>
          <a:p>
            <a:r>
              <a:t>continue statement skips the current iteration and moves to the next one in a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Ternary Operator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Definition and Usage</a:t>
            </a:r>
          </a:p>
          <a:p>
            <a:r>
              <a:t>The ternary operator in Java is a shorthand conditional expression that evaluates a boolean condition and returns one of two values based on the result.</a:t>
            </a:r>
          </a:p>
          <a:p>
            <a:r>
              <a:t>It consists of a condition followed by a question mark (?), then an expression to execute if the condition is true, and a colon (:) for the expression to execute if the condition is false.</a:t>
            </a:r>
          </a:p>
          <a:p>
            <a:pPr>
              <a:defRPr b="1"/>
            </a:pPr>
            <a:r>
              <a:t>Advantages and Limitations</a:t>
            </a:r>
          </a:p>
          <a:p>
            <a:r>
              <a:t>The ternary operator is concise and can improve code readability by reducing the need for if-else statements in certain scenarios.</a:t>
            </a:r>
          </a:p>
          <a:p>
            <a:r>
              <a:t>However, it should be used judiciously to maintain code clarity and avoid complex nested ternary expressions that can make code harder to understand.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statements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Loops in Java</a:t>
            </a:r>
          </a:p>
          <a:p>
            <a:r>
              <a:t>Loops allow for repetitive execution of a block of code until a certain condition is met.</a:t>
            </a:r>
          </a:p>
          <a:p>
            <a:r>
              <a:t>Java supports different types of loops such as for, while, and do-while loops.</a:t>
            </a:r>
          </a:p>
          <a:p>
            <a:pPr>
              <a:defRPr b="1"/>
            </a:pPr>
            <a:r>
              <a:t>Enhanced for Loop</a:t>
            </a:r>
          </a:p>
          <a:p>
            <a:r>
              <a:t>The enhanced for loop in Java simplifies iterating over arrays and collections.</a:t>
            </a:r>
          </a:p>
          <a:p>
            <a:r>
              <a:t>It provides a concise way to iterate through elements without the need for explicit indexing.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Loops statements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No relevant information found in the vector store for Nested Loops statements.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Control Statements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Loop Statements</a:t>
            </a:r>
          </a:p>
          <a:p>
            <a:r>
              <a:t>Loop Statements are discussed in the context of control structures, providing mechanisms like for, while, and do-while loops for repetitive execution.</a:t>
            </a:r>
          </a:p>
          <a:p>
            <a:r>
              <a:t>These statements allow the program to iterate over a block of code multiple times until a specified condition is met.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3: Object Oriented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Classes and Concepts</a:t>
            </a:r>
          </a:p>
          <a:p>
            <a:r>
              <a:t>Java classes such as BufferedInputStream, BufferedOutputStream, ByteArrayInputStream, ByteArrayOutputStream, DataInputStream, and DataOutputStream are mentioned in various contexts.</a:t>
            </a:r>
          </a:p>
          <a:p>
            <a:r>
              <a:t>Classes like FileInputStream, FileOutputStream, FileReader, FileWriter, FilterInputStream, FilterOutputStream, InputStream, OutputStream, SequenceInputStream are also referenced in different parts of the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&amp; Object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Object</a:t>
            </a:r>
          </a:p>
          <a:p>
            <a:r>
              <a:t>An object is any entity with a state and behavior, like a pen or a dog, and can communicate with other objects based on message types and responses.</a:t>
            </a:r>
          </a:p>
          <a:p>
            <a:r>
              <a:t>Objects have addresses, take up memory, and can interact even without knowledge of each other's data or code.</a:t>
            </a:r>
          </a:p>
          <a:p>
            <a:pPr>
              <a:defRPr b="1"/>
            </a:pPr>
            <a:r>
              <a:t>Class</a:t>
            </a:r>
          </a:p>
          <a:p>
            <a:r>
              <a:t>A class is a logical group serving as a blueprint for creating individual objects, defining their properties and behaviors.</a:t>
            </a:r>
          </a:p>
          <a:p>
            <a:r>
              <a:t>Classes do not occupy memory space and are essential in object-oriented programming for creating instances of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Map Interface Techniques That Are Useful</a:t>
            </a:r>
          </a:p>
          <a:p>
            <a:r>
              <a:t>The 'replace' method in the Map interface replaces the previous value with a new value for a given key.</a:t>
            </a:r>
          </a:p>
          <a:p>
            <a:r>
              <a:t>The 'replaceAll' method in the Map interface updates the values of all entries based on a provided function.</a:t>
            </a:r>
          </a:p>
          <a:p>
            <a:pPr>
              <a:defRPr b="1"/>
            </a:pPr>
            <a:r>
              <a:t>Map.Entry Interface Methods</a:t>
            </a:r>
          </a:p>
          <a:p>
            <a:r>
              <a:t>The 'getKey' method in the Map.Entry interface is used to retrieve the key associated with an entry.</a:t>
            </a:r>
          </a:p>
          <a:p>
            <a:r>
              <a:t>The 'setValue' method in the Map.Entry interface overwrites the value of an entry with a new supplied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Default Constructor</a:t>
            </a:r>
          </a:p>
          <a:p>
            <a:r>
              <a:t>A default constructor is automatically provided by Java if no constructor is defined in a class.</a:t>
            </a:r>
          </a:p>
          <a:p>
            <a:r>
              <a:t>It initializes instance variables to their default values.</a:t>
            </a:r>
          </a:p>
          <a:p>
            <a:pPr>
              <a:defRPr b="1"/>
            </a:pPr>
            <a:r>
              <a:t>Parameterized Constructor</a:t>
            </a:r>
          </a:p>
          <a:p>
            <a:r>
              <a:t>A parameterized constructor allows you to pass arguments when creating an object.</a:t>
            </a:r>
          </a:p>
          <a:p>
            <a:r>
              <a:t>It initializes instance variables with the values provided as arguments.</a:t>
            </a:r>
          </a:p>
          <a:p>
            <a:pPr>
              <a:defRPr b="1"/>
            </a:pPr>
            <a:r>
              <a:t>Constructor Overloading</a:t>
            </a:r>
          </a:p>
          <a:p>
            <a:r>
              <a:t>Constructor overloading enables a class to have multiple constructors with different parameter lists.</a:t>
            </a:r>
          </a:p>
          <a:p>
            <a:r>
              <a:t>Each constructor can perform different initialization based on the parameters passed.</a:t>
            </a:r>
          </a:p>
          <a:p>
            <a:pPr>
              <a:defRPr b="1"/>
            </a:pPr>
            <a:r>
              <a:t>Copy Constructor in Java</a:t>
            </a:r>
          </a:p>
          <a:p>
            <a:r>
              <a:t>A copy constructor creates a new object by copying the values of another object.</a:t>
            </a:r>
          </a:p>
          <a:p>
            <a:r>
              <a:t>It is used to initialize a new object with the values of an existing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Modifiers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Public Modifier</a:t>
            </a:r>
          </a:p>
          <a:p>
            <a:r>
              <a:t>Accessible everywhere within the class, outside the class, within the package, and from outside the package.</a:t>
            </a:r>
          </a:p>
          <a:p>
            <a:r>
              <a:t>Considered the most permissive access level among the access modifiers.</a:t>
            </a:r>
          </a:p>
          <a:p>
            <a:pPr>
              <a:defRPr b="1"/>
            </a:pPr>
            <a:r>
              <a:t>Private Modifier</a:t>
            </a:r>
          </a:p>
          <a:p>
            <a:r>
              <a:t>Restricted to access only within the class where it is declared.</a:t>
            </a:r>
          </a:p>
          <a:p>
            <a:r>
              <a:t>Provides the highest level of encapsulation and data hiding.</a:t>
            </a:r>
          </a:p>
          <a:p>
            <a:pPr>
              <a:defRPr b="1"/>
            </a:pPr>
            <a:r>
              <a:t>Protected Modifier</a:t>
            </a:r>
          </a:p>
          <a:p>
            <a:r>
              <a:t>Accessible within the class, within the package, and by subclasses outside the package.</a:t>
            </a:r>
          </a:p>
          <a:p>
            <a:r>
              <a:t>Used to allow access to class members within the same package or by subclasses.</a:t>
            </a:r>
          </a:p>
          <a:p>
            <a:pPr>
              <a:defRPr b="1"/>
            </a:pPr>
            <a:r>
              <a:t>Default Modifier</a:t>
            </a:r>
          </a:p>
          <a:p>
            <a:r>
              <a:t>Also known as package-private, accessible within the same package but not outside of it.</a:t>
            </a:r>
          </a:p>
          <a:p>
            <a:r>
              <a:t>Does not require an explicit modifier keyword.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‘this’ keyword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Usage of ‘this’ keyword in Java</a:t>
            </a:r>
          </a:p>
          <a:p>
            <a:r>
              <a:t>‘this’ is a reference variable in Java that points to the current object, allowing it to refer to the current instance variable of a class.</a:t>
            </a:r>
          </a:p>
          <a:p>
            <a:r>
              <a:t>It can be used to resolve ambiguity between instance variables and arguments in a class.</a:t>
            </a:r>
          </a:p>
          <a:p>
            <a:pPr>
              <a:defRPr b="1"/>
            </a:pPr>
            <a:r>
              <a:t>Different ways to use ‘this’ keyword</a:t>
            </a:r>
          </a:p>
          <a:p>
            <a:r>
              <a:t>‘this’ can be used to invoke methods and constructors of the current class.</a:t>
            </a:r>
          </a:p>
          <a:p>
            <a:r>
              <a:t>It can also be passed as an argument in method calls or constructor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Passing by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Classes and Concepts</a:t>
            </a:r>
          </a:p>
          <a:p>
            <a:r>
              <a:t>Primitive data types in Java are passed by value, meaning a copy of the actual value is passed to methods.</a:t>
            </a:r>
          </a:p>
          <a:p>
            <a:r>
              <a:t>Objects in Java are also passed by value, where the reference to the object is copied, not the object itself.</a:t>
            </a:r>
          </a:p>
          <a:p>
            <a:pPr>
              <a:defRPr b="1"/>
            </a:pPr>
            <a:r>
              <a:t>Object-Oriented Programming</a:t>
            </a:r>
          </a:p>
          <a:p>
            <a:r>
              <a:t>In Java, method parameters are passed by value, which means a copy of the parameter is passed to the method.</a:t>
            </a:r>
          </a:p>
          <a:p>
            <a:r>
              <a:t>When an object is passed as a parameter, the reference to the object is passed by value, not the actual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Encapsulation in Java</a:t>
            </a:r>
          </a:p>
          <a:p>
            <a:r>
              <a:t>Encapsulation in Java combines code and data into a single unit, creating a fully enclosed class by keeping data members private.</a:t>
            </a:r>
          </a:p>
          <a:p>
            <a:r>
              <a:t>Setter and getter methods are used to control data access, allowing for data concealing and simplifying unit testing.</a:t>
            </a:r>
          </a:p>
          <a:p>
            <a:pPr>
              <a:defRPr b="1"/>
            </a:pPr>
            <a:r>
              <a:t>Benefits of Encapsulation in Java</a:t>
            </a:r>
          </a:p>
          <a:p>
            <a:r>
              <a:t>Encapsulation allows for creating read-only or write-only classes easily by providing setter or getter methods.</a:t>
            </a:r>
          </a:p>
          <a:p>
            <a:r>
              <a:t>It provides control over data access, enables data hiding, and simplifies unit testing of encapsulated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Inheritance Definition</a:t>
            </a:r>
          </a:p>
          <a:p>
            <a:r>
              <a:t>Inheritance involves one object inheriting all properties and behaviors from its parent object, enabling code reuse.</a:t>
            </a:r>
          </a:p>
          <a:p>
            <a:r>
              <a:t>It is utilized in Java to achieve polymorphism at runtime.</a:t>
            </a:r>
          </a:p>
          <a:p>
            <a:pPr>
              <a:defRPr b="1"/>
            </a:pPr>
            <a:r>
              <a:t>Benefits of Inheritance</a:t>
            </a:r>
          </a:p>
          <a:p>
            <a:r>
              <a:t>Allows for the reuse of code by inheriting properties and behaviors from a parent object.</a:t>
            </a:r>
          </a:p>
          <a:p>
            <a:r>
              <a:t>Enables achieving polymorphism, where the same task can be completed in different 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Abstraction in Java</a:t>
            </a:r>
          </a:p>
          <a:p>
            <a:r>
              <a:t>Abstraction in Java involves concealing internal information while displaying functionality, achieved through abstract classes and interfaces.</a:t>
            </a:r>
          </a:p>
          <a:p>
            <a:r>
              <a:t>It allows developers to focus on what an object does rather than how it does it, promoting code reusability and flexibility.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Map Interface Techniques That Are Useful</a:t>
            </a:r>
          </a:p>
          <a:p>
            <a:r>
              <a:t>The Map interface in Java provides methods like replace, replaceAll, values, and size for efficient manipulation of key-value pairs.</a:t>
            </a:r>
          </a:p>
          <a:p>
            <a:r>
              <a:t>These methods allow for operations such as replacing values, applying functions to all entries, retrieving values, and obtaining the size of the map.</a:t>
            </a:r>
          </a:p>
          <a:p>
            <a:pPr>
              <a:defRPr b="1"/>
            </a:pPr>
            <a:r>
              <a:t>The interface of Map.Entry</a:t>
            </a:r>
          </a:p>
          <a:p>
            <a:r>
              <a:t>The Map.Entry interface in Java offers methods like getKey, getValue, hashCode, setValue, equals, and comparingByKey for working with key-value pairs.</a:t>
            </a:r>
          </a:p>
          <a:p>
            <a:r>
              <a:t>These methods enable accessing keys and values, comparing entries, obtaining hash codes, setting new values, and sorting entries based on keys.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Polymorphism Definition</a:t>
            </a:r>
          </a:p>
          <a:p>
            <a:r>
              <a:t>Polymorphism allows the same task to be executed in multiple ways, such as drawing different shapes like a triangle, rectangle, or circle.</a:t>
            </a:r>
          </a:p>
          <a:p>
            <a:r>
              <a:t>In Java, polymorphism is achieved through method overloading and method overriding.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4: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&amp; Dynamic Array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Static Array</a:t>
            </a:r>
          </a:p>
          <a:p>
            <a:r>
              <a:t>In Java, arrays are index-based with the first element at the 0th index, and they can only hold a fixed number of items.</a:t>
            </a:r>
          </a:p>
          <a:p>
            <a:r>
              <a:t>Java arrays are dynamically created class objects that store related components in a continuous memory region.</a:t>
            </a:r>
          </a:p>
          <a:p>
            <a:pPr>
              <a:defRPr b="1"/>
            </a:pPr>
            <a:r>
              <a:t>Dynamic Array</a:t>
            </a:r>
          </a:p>
          <a:p>
            <a:r>
              <a:t>Java allows the creation of single-dimensional or multidimensional arrays similar to C/C++.</a:t>
            </a:r>
          </a:p>
          <a:p>
            <a:r>
              <a:t>Arrays in Java can store primitive values or objects and have the characteristic of unnamed arrays.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N-Dimensional Array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Arrays</a:t>
            </a:r>
          </a:p>
          <a:p>
            <a:r>
              <a:t>An array in Java is a collection of items of the same data type stored in contiguous memory locations.</a:t>
            </a:r>
          </a:p>
          <a:p>
            <a:r>
              <a:t>Java arrays are index-based, with the first element at the 0th index, the second at the 1st index, and so on.</a:t>
            </a:r>
          </a:p>
          <a:p>
            <a:pPr>
              <a:defRPr b="1"/>
            </a:pPr>
            <a:r>
              <a:t>Multidimensional Arrays</a:t>
            </a:r>
          </a:p>
          <a:p>
            <a:r>
              <a:t>Java allows the creation of multidimensional arrays, similar to C/C++, enabling the storage of arrays within arrays.</a:t>
            </a:r>
          </a:p>
          <a:p>
            <a:r>
              <a:t>Multidimensional arrays in Java can be used to represent matrices or other complex data structures.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Operations on Arrays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Array Indexing in Java</a:t>
            </a:r>
          </a:p>
          <a:p>
            <a:r>
              <a:t>Arrays in Java are index-based, with the first element at index 0, the second at index 1, and so on.</a:t>
            </a:r>
          </a:p>
          <a:p>
            <a:r>
              <a:t>Array indexing allows for accessing specific elements within the array based on their position.</a:t>
            </a:r>
          </a:p>
          <a:p>
            <a:pPr>
              <a:defRPr b="1"/>
            </a:pPr>
            <a:r>
              <a:t>Array Initialization and Storage</a:t>
            </a:r>
          </a:p>
          <a:p>
            <a:r>
              <a:t>Java arrays are dynamically created objects that store elements of the same data type in contiguous memory locations.</a:t>
            </a:r>
          </a:p>
          <a:p>
            <a:r>
              <a:t>Arrays in Java can hold a fixed number of items and can store either primitive values or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operations on Linked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Methods for List Iterator Operations</a:t>
            </a:r>
          </a:p>
          <a:p>
            <a:r>
              <a:t>The add(E e) function adds an item to the list.</a:t>
            </a:r>
          </a:p>
          <a:p>
            <a:r>
              <a:t>The remove() function deletes the last element returned by next() or previous()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 &amp; Linked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Arrays in Java</a:t>
            </a:r>
          </a:p>
          <a:p>
            <a:r>
              <a:t>An array in Java is a collection of items of the same data type stored in contiguous memory locations.</a:t>
            </a:r>
          </a:p>
          <a:p>
            <a:r>
              <a:t>Java arrays are index-based, starting from 0, and can hold a fixed number of items.</a:t>
            </a:r>
          </a:p>
          <a:p>
            <a:pPr>
              <a:defRPr b="1"/>
            </a:pPr>
            <a:r>
              <a:t>Linked List in Java</a:t>
            </a:r>
          </a:p>
          <a:p>
            <a:r>
              <a:t>A linked list is a data structure where each element is connected to the next element through pointers.</a:t>
            </a:r>
          </a:p>
          <a:p>
            <a:r>
              <a:t>In Java, linked lists provide dynamic memory allocation and efficient insertion and deletion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Linked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Singly Linked List</a:t>
            </a:r>
          </a:p>
          <a:p>
            <a:r>
              <a:t>Each element points to the next element in the list.</a:t>
            </a:r>
          </a:p>
          <a:p>
            <a:r>
              <a:t>Traversal is done in one direction only.</a:t>
            </a:r>
          </a:p>
          <a:p>
            <a:pPr>
              <a:defRPr b="1"/>
            </a:pPr>
            <a:r>
              <a:t>Doubly Linked List</a:t>
            </a:r>
          </a:p>
          <a:p>
            <a:r>
              <a:t>Each element has references to the next and previous elements.</a:t>
            </a:r>
          </a:p>
          <a:p>
            <a:r>
              <a:t>Traversal can be done in both forward and backward directions.</a:t>
            </a:r>
          </a:p>
          <a:p>
            <a:pPr>
              <a:defRPr b="1"/>
            </a:pPr>
            <a:r>
              <a:t>Circular Linked List</a:t>
            </a:r>
          </a:p>
          <a:p>
            <a:r>
              <a:t>The last element points back to the first element, forming a circular structure.</a:t>
            </a:r>
          </a:p>
          <a:p>
            <a:r>
              <a:t>Traversal can start from any element and loop back to the same element.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Stacks &amp; Queues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Stacks</a:t>
            </a:r>
          </a:p>
          <a:p>
            <a:r>
              <a:t>Stacks follow the Last In First Out (LIFO) principle, where the last element added is the first to be removed.</a:t>
            </a:r>
          </a:p>
          <a:p>
            <a:r>
              <a:t>Common operations on stacks include push (adding an element) and pop (removing the top element).</a:t>
            </a:r>
          </a:p>
          <a:p>
            <a:pPr>
              <a:defRPr b="1"/>
            </a:pPr>
            <a:r>
              <a:t>Queues</a:t>
            </a:r>
          </a:p>
          <a:p>
            <a:r>
              <a:t>Queues adhere to the First In First Out (FIFO) principle, where the first element added is the first to be removed.</a:t>
            </a:r>
          </a:p>
          <a:p>
            <a:r>
              <a:t>Basic operations on queues include enqueue (adding an element to the rear) and dequeue (removing an element from the front).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5: Developing an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the API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Association in Object-Oriented Design</a:t>
            </a:r>
          </a:p>
          <a:p>
            <a:r>
              <a:t>Association represents the link between objects, allowing one object to be linked to one or more objects.</a:t>
            </a:r>
          </a:p>
          <a:p>
            <a:r>
              <a:t>There are four types of object associations: One to One, One to Many, Many to One, and Many to Many.</a:t>
            </a:r>
          </a:p>
          <a:p>
            <a:pPr>
              <a:defRPr b="1"/>
            </a:pPr>
            <a:r>
              <a:t>Aggregation and its Role in Object-Oriented Design</a:t>
            </a:r>
          </a:p>
          <a:p>
            <a:r>
              <a:t>Aggregation is a technique for achieving association, where one object contains another object.</a:t>
            </a:r>
          </a:p>
          <a:p>
            <a:r>
              <a:t>It establishes a 'whole-part' relationship, indicating that one object is a part of another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 the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Development Kit (JDK)</a:t>
            </a:r>
          </a:p>
          <a:p>
            <a:r>
              <a:t>JDK is essential for developing Java applications as it provides the necessary tools and libraries for programming.</a:t>
            </a:r>
          </a:p>
          <a:p>
            <a:r>
              <a:t>It includes compilers, debuggers, and other tools needed to develop, test, and run Java applications.</a:t>
            </a:r>
          </a:p>
          <a:p>
            <a:pPr>
              <a:defRPr b="1"/>
            </a:pPr>
            <a:r>
              <a:t>Lambda expressions</a:t>
            </a:r>
          </a:p>
          <a:p>
            <a:r>
              <a:t>Lambda expressions in Java enable functional programming by allowing the representation of anonymous functions concisely.</a:t>
            </a:r>
          </a:p>
          <a:p>
            <a:r>
              <a:t>They simplify the development process by reducing boilerplate code and enhancing code readability.</a:t>
            </a:r>
          </a:p>
          <a:p>
            <a:pPr>
              <a:defRPr b="1"/>
            </a:pPr>
            <a:r>
              <a:t>Library classes in Java</a:t>
            </a:r>
          </a:p>
          <a:p>
            <a:r>
              <a:t>Java offers a wide range of library classes that provide pre-built functionalities for common programming tasks.</a:t>
            </a:r>
          </a:p>
          <a:p>
            <a:r>
              <a:t>These classes streamline development by offering ready-to-use solutions for tasks like data manipulation, I/O operations, and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the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Key Point 1 [Java class library]</a:t>
            </a:r>
          </a:p>
          <a:p>
            <a:r>
              <a:t>The Java class library provides a wide range of pre-built classes and methods for developers to utilize in their programs.</a:t>
            </a:r>
          </a:p>
          <a:p>
            <a:r>
              <a:t>It includes classes for data input/output, file handling, stream processing, and more, offering a comprehensive set of tools for Java development.</a:t>
            </a:r>
          </a:p>
          <a:p>
            <a:pPr>
              <a:defRPr b="1"/>
            </a:pPr>
            <a:r>
              <a:t>Key Point 2 [Java Archive (JAR) file]</a:t>
            </a:r>
          </a:p>
          <a:p>
            <a:r>
              <a:t>Java Archive (JAR) files are used to package Java classes and resources into a single file for efficient distribution and deployment.</a:t>
            </a:r>
          </a:p>
          <a:p>
            <a:r>
              <a:t>They are commonly used for libraries, frameworks, and applications to simplify the sharing and usage of Java components.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 the API and iterate on feedback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Monitoring API Performance</a:t>
            </a:r>
          </a:p>
          <a:p>
            <a:r>
              <a:t>API performance monitoring involves tracking response times, error rates, and usage patterns to ensure optimal functionality.</a:t>
            </a:r>
          </a:p>
          <a:p>
            <a:r>
              <a:t>Regular monitoring helps identify bottlenecks, optimize resource allocation, and enhance overall user experience.</a:t>
            </a:r>
          </a:p>
          <a:p>
            <a:pPr>
              <a:defRPr b="1"/>
            </a:pPr>
            <a:r>
              <a:t>Feedback Iteration Process</a:t>
            </a:r>
          </a:p>
          <a:p>
            <a:r>
              <a:t>Iterating on feedback involves analyzing user suggestions, bug reports, and feature requests to continuously improve the API.</a:t>
            </a:r>
          </a:p>
          <a:p>
            <a:r>
              <a:t>Feedback loops enable developers to address issues promptly, implement enhancements, and adapt to changing user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6: Debugging Java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Debugging?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Debugging in Java</a:t>
            </a:r>
          </a:p>
          <a:p>
            <a:r>
              <a:t>Debugging is the process of identifying and fixing errors or bugs in a program to ensure it runs correctly.</a:t>
            </a:r>
          </a:p>
          <a:p>
            <a:r>
              <a:t>It involves step-by-step execution, identifying issues like logical errors, and using tools like breakpoints and watches.</a:t>
            </a:r>
          </a:p>
          <a:p>
            <a:pPr>
              <a:defRPr b="1"/>
            </a:pPr>
            <a:r>
              <a:t>Debugging Tools</a:t>
            </a:r>
          </a:p>
          <a:p>
            <a:r>
              <a:t>Common debugging tools in Java include IDE debuggers like breakpoints, watches, and stepping through code.</a:t>
            </a:r>
          </a:p>
          <a:p>
            <a:r>
              <a:t>These tools help programmers track program flow, variable values, and identify the root cause of issues.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Examining the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Classes and Concepts</a:t>
            </a:r>
          </a:p>
          <a:p>
            <a:r>
              <a:t>Java classes like BufferedInputStream, BufferedOutputStream, ByteArrayInputStream, and ByteArrayOutputStream are used for handling input and output streams in Java programs.</a:t>
            </a:r>
          </a:p>
          <a:p>
            <a:r>
              <a:t>Classes such as DataInputStream, DataOutputStream, FileInputStream, and FileOutputStream are essential for reading and writing data from files in Java.</a:t>
            </a:r>
          </a:p>
          <a:p>
            <a:pPr>
              <a:defRPr b="1"/>
            </a:pPr>
            <a:r>
              <a:t>OOP Concepts</a:t>
            </a:r>
          </a:p>
          <a:p>
            <a:r>
              <a:t>Chapters in the vector store cover Object-Oriented Programming concepts like access modifiers, interfaces, inheritance, and Java enums.</a:t>
            </a:r>
          </a:p>
          <a:p>
            <a:r>
              <a:t>The chapters also discuss the importance of cohesion in programming to ensure components perform well-defined duties.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breakpoints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Setting Breakpoints in Java Debugger</a:t>
            </a:r>
          </a:p>
          <a:p>
            <a:r>
              <a:t>Breakpoints can be set at specific lines of code to pause program execution for debugging purposes.</a:t>
            </a:r>
          </a:p>
          <a:p>
            <a:r>
              <a:t>By setting breakpoints, developers can inspect variables and step through code to identify and fix issues.</a:t>
            </a:r>
          </a:p>
          <a:p>
            <a:pPr>
              <a:defRPr b="1"/>
            </a:pPr>
            <a:r>
              <a:t>Types of Breakpoints</a:t>
            </a:r>
          </a:p>
          <a:p>
            <a:r>
              <a:t>Java debugger supports different types of breakpoints such as line breakpoints, method breakpoints, and conditional breakpoints.</a:t>
            </a:r>
          </a:p>
          <a:p>
            <a:r>
              <a:t>Line breakpoints pause execution at a specific line, method breakpoints at method entry or exit, and conditional breakpoints based on specified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program in debug mode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Debugging in Java</a:t>
            </a:r>
          </a:p>
          <a:p>
            <a:r>
              <a:t>Debugging allows step-by-step execution for identifying and fixing errors in the code.</a:t>
            </a:r>
          </a:p>
          <a:p>
            <a:r>
              <a:t>Breakpoints can be set to pause the program at specific points to inspect variables and program flow.</a:t>
            </a:r>
          </a:p>
          <a:p>
            <a:pPr>
              <a:defRPr b="1"/>
            </a:pPr>
            <a:r>
              <a:t>Debugging Tools</a:t>
            </a:r>
          </a:p>
          <a:p>
            <a:r>
              <a:t>Java IDEs provide debugging tools like variable watches, call stack inspection, and expression evaluation.</a:t>
            </a:r>
          </a:p>
          <a:p>
            <a:r>
              <a:t>Debugging aids in understanding program behavior and resolving issues efficiently.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Analyze the program state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Program State Analysis</a:t>
            </a:r>
          </a:p>
          <a:p>
            <a:r>
              <a:t>Java provides tools like BufferedInputStream and BufferedOutputStream classes for efficient I/O operations.</a:t>
            </a:r>
          </a:p>
          <a:p>
            <a:r>
              <a:t>Classes like DataInputStream and DataOutputStream facilitate reading and writing primitive data types.</a:t>
            </a:r>
          </a:p>
          <a:p>
            <a:pPr>
              <a:defRPr b="1"/>
            </a:pPr>
            <a:r>
              <a:t>File Handling in Java</a:t>
            </a:r>
          </a:p>
          <a:p>
            <a:r>
              <a:t>FileInputStream and FileOutputStream classes are used for reading from and writing to files.</a:t>
            </a:r>
          </a:p>
          <a:p>
            <a:r>
              <a:t>FileReader and FileWriter classes are specifically designed for reading and writing character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through the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Step through the program</a:t>
            </a:r>
          </a:p>
          <a:p>
            <a:r>
              <a:t>When stepping through a program, you can observe the execution flow line by line, checking variable values at each step.</a:t>
            </a:r>
          </a:p>
          <a:p>
            <a:r>
              <a:t>This process helps in debugging by identifying issues in the code logic or variable values during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Stopping the debugging session and rerun the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Debugging</a:t>
            </a:r>
          </a:p>
          <a:p>
            <a:r>
              <a:t>To stop the debugging session and rerun the program, use the appropriate debugging tools provided by the IDE.</a:t>
            </a:r>
          </a:p>
          <a:p>
            <a:r>
              <a:t>Rerunning the program after stopping the debugging session allows for reevaluation and correction of code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7: Exception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keywords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BuzzWords</a:t>
            </a:r>
          </a:p>
          <a:p>
            <a:r>
              <a:t>Java BuzzWords section briefly touches on Java exceptions and their handling.</a:t>
            </a:r>
          </a:p>
          <a:p>
            <a:r>
              <a:t>It may contain information on how Java deals with exceptions and related keywords.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exceptions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Exception Handling in Java</a:t>
            </a:r>
          </a:p>
          <a:p>
            <a:r>
              <a:t>Nested exceptions occur when an exception is thrown within another exception's catch or finally block.</a:t>
            </a:r>
          </a:p>
          <a:p>
            <a:r>
              <a:t>This can lead to a chain of exceptions, where the original exception is wrapped inside a new one.</a:t>
            </a:r>
          </a:p>
          <a:p>
            <a:pPr>
              <a:defRPr b="1"/>
            </a:pPr>
            <a:r>
              <a:t>Handling Nested Exceptions</a:t>
            </a:r>
          </a:p>
          <a:p>
            <a:r>
              <a:t>To handle nested exceptions effectively, developers can use try-catch blocks within catch or finally blocks.</a:t>
            </a:r>
          </a:p>
          <a:p>
            <a:r>
              <a:t>By properly managing nested exceptions, developers can ensure comprehensive error handling and debugging.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Throwing exceptions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Throw keyword in Java</a:t>
            </a:r>
          </a:p>
          <a:p>
            <a:r>
              <a:t>Throw keyword is used to throw exceptions explicitly in Java.</a:t>
            </a:r>
          </a:p>
          <a:p>
            <a:r>
              <a:t>It is commonly used for throwing custom exceptions.</a:t>
            </a:r>
          </a:p>
          <a:p>
            <a:pPr>
              <a:defRPr b="1"/>
            </a:pPr>
            <a:r>
              <a:t>Throws keyword in Java</a:t>
            </a:r>
          </a:p>
          <a:p>
            <a:r>
              <a:t>Throws keyword is used to declare exceptions in Java.</a:t>
            </a:r>
          </a:p>
          <a:p>
            <a:r>
              <a:t>It is primarily used to propagate checked exceptions.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propagation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Exception propagation in Java</a:t>
            </a:r>
          </a:p>
          <a:p>
            <a:r>
              <a:t>Exceptions in Java can be propagated using the 'throws' keyword in method signatures to indicate that the method may throw a specific type of exception.</a:t>
            </a:r>
          </a:p>
          <a:p>
            <a:r>
              <a:t>When an exception is thrown in a method that does not handle it, the exception is propagated up the call stack until it is caught or reaches the top-level handler.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Throws clause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Throws Keyword in Java</a:t>
            </a:r>
          </a:p>
          <a:p>
            <a:r>
              <a:t>The throws keyword in Java is used to declare an exception and can be used to propagate checked exceptions.</a:t>
            </a:r>
          </a:p>
          <a:p>
            <a:r>
              <a:t>It is essential for specifying the exceptions that a method might throw, allowing the calling method to handle or propagate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exceptions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Throw keyword in Java</a:t>
            </a:r>
          </a:p>
          <a:p>
            <a:r>
              <a:t>Throw keyword is used to throw custom exceptions explicitly in Java.</a:t>
            </a:r>
          </a:p>
          <a:p>
            <a:r>
              <a:t>It allows developers to create and handle their own exception types.</a:t>
            </a:r>
          </a:p>
          <a:p>
            <a:pPr>
              <a:defRPr b="1"/>
            </a:pPr>
            <a:r>
              <a:t>Throws keyword in Java</a:t>
            </a:r>
          </a:p>
          <a:p>
            <a:r>
              <a:t>The throws keyword is used to declare exceptions that a method might throw.</a:t>
            </a:r>
          </a:p>
          <a:p>
            <a:r>
              <a:t>It helps in propagating checked exceptions up the call stack for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Chaining exceptions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Exception Chaining</a:t>
            </a:r>
          </a:p>
          <a:p>
            <a:r>
              <a:t>Exception chaining in Java allows one exception to be wrapped inside another, preserving the original exception information.</a:t>
            </a:r>
          </a:p>
          <a:p>
            <a:r>
              <a:t>It helps in maintaining the full context of an error by linking related exceptions together.</a:t>
            </a:r>
          </a:p>
          <a:p>
            <a:pPr>
              <a:defRPr b="1"/>
            </a:pPr>
            <a:r>
              <a:t>Handling Chained Exceptions</a:t>
            </a:r>
          </a:p>
          <a:p>
            <a:r>
              <a:t>Developers can catch and handle chained exceptions using try-catch blocks to manage multiple layers of exceptions.</a:t>
            </a:r>
          </a:p>
          <a:p>
            <a:r>
              <a:t>By unwrapping and examining chained exceptions, developers can troubleshoot complex error scenarios effectively.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Exceptions with polymorphism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Polymorphism in Exception Handling</a:t>
            </a:r>
          </a:p>
          <a:p>
            <a:r>
              <a:t>Polymorphism allows different exception types to be treated uniformly through a common superclass, enabling catching multiple exceptions with a single catch block.</a:t>
            </a:r>
          </a:p>
          <a:p>
            <a:r>
              <a:t>In Java, polymorphism in exception handling is achieved by catching exceptions using the superclass Exception or Throwable, providing flexibility in handling various types of exceptions.</a:t>
            </a:r>
          </a:p>
          <a:p>
            <a:pPr>
              <a:defRPr b="1"/>
            </a:pPr>
            <a:r>
              <a:t>Method Overriding in Exception Handling</a:t>
            </a:r>
          </a:p>
          <a:p>
            <a:r>
              <a:t>In exception handling, method overriding allows subclasses to provide specific exception handling behavior while adhering to the superclass method signature.</a:t>
            </a:r>
          </a:p>
          <a:p>
            <a:r>
              <a:t>This enables custom exception handling logic in subclasses, enhancing the flexibility and adaptability of exception management in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8: File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paths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File Paths in Java Classes</a:t>
            </a:r>
          </a:p>
          <a:p>
            <a:r>
              <a:t>Java classes like FileInputStream and FileOutputStream are used to work with file paths in Java programs.</a:t>
            </a:r>
          </a:p>
          <a:p>
            <a:r>
              <a:t>These classes provide methods to read from and write to files located at specific file paths on the system.</a:t>
            </a:r>
          </a:p>
          <a:p>
            <a:pPr>
              <a:defRPr b="1"/>
            </a:pPr>
            <a:r>
              <a:t>File Paths and Packages</a:t>
            </a:r>
          </a:p>
          <a:p>
            <a:r>
              <a:t>Packages in Java help organize classes and files into a hierarchical structure, allowing for easier management of file paths.</a:t>
            </a:r>
          </a:p>
          <a:p>
            <a:r>
              <a:t>By using packages and sub-packages, developers can create a structured system for accessing and working with file paths in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metadata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File-Based Data Storage</a:t>
            </a:r>
          </a:p>
          <a:p>
            <a:r>
              <a:t>File-Based data storage was an early method of storing data where information is organized in files, as discussed in the database evolution section.</a:t>
            </a:r>
          </a:p>
          <a:p>
            <a:r>
              <a:t>It was a precursor to more advanced database models like hierarchical and relational databases.</a:t>
            </a:r>
          </a:p>
          <a:p>
            <a:pPr>
              <a:defRPr b="1"/>
            </a:pPr>
            <a:r>
              <a:t>File I/O Classes in Java</a:t>
            </a:r>
          </a:p>
          <a:p>
            <a:r>
              <a:t>Java provides classes like FileInputStream and FileOutputStream for reading from and writing to files, as mentioned in the Java classes and concepts table.</a:t>
            </a:r>
          </a:p>
          <a:p>
            <a:r>
              <a:t>These classes enable interaction with files at a lower level, allowing data to be read from or written to files on the file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regular and temporary 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FileInputStream and FileOutputStream classes</a:t>
            </a:r>
          </a:p>
          <a:p>
            <a:r>
              <a:t>FileInputStream class is used to read data from a file as input stream.</a:t>
            </a:r>
          </a:p>
          <a:p>
            <a:r>
              <a:t>FileOutputStream class is used to write data to a file as output stream.</a:t>
            </a:r>
          </a:p>
          <a:p>
            <a:pPr>
              <a:defRPr b="1"/>
            </a:pPr>
            <a:r>
              <a:t>BufferedInputStream and BufferedOutputStream classes</a:t>
            </a:r>
          </a:p>
          <a:p>
            <a:r>
              <a:t>BufferedInputStream class reads data from an input stream efficiently by buffering.</a:t>
            </a:r>
          </a:p>
          <a:p>
            <a:r>
              <a:t>BufferedOutputStream class writes data to an output stream efficiently by buffering.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try-with-resources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Key Point 1 [Specific section of the subtopic]</a:t>
            </a:r>
          </a:p>
          <a:p>
            <a:r>
              <a:t>Bullet point 1: The try-with-resources statement in Java is used to automatically close resources like streams, ensuring they are closed properly after being used.</a:t>
            </a:r>
          </a:p>
          <a:p>
            <a:r>
              <a:t>Bullet point 2: It simplifies resource management by eliminating the need for explicit close statements and reducing the risk of resource leaks.</a:t>
            </a:r>
          </a:p>
          <a:p>
            <a:pPr>
              <a:defRPr b="1"/>
            </a:pPr>
            <a:r>
              <a:t>Key Point 2</a:t>
            </a:r>
          </a:p>
          <a:p>
            <a:r>
              <a:t>Bullet point 1: The try-with-resources statement requires resources to implement the AutoCloseable interface to enable automatic resource management.</a:t>
            </a:r>
          </a:p>
          <a:p>
            <a:r>
              <a:t>Bullet point 2: It was introduced in Java 7 to enhance code readability and maintainability when dealing with resources that need to be closed.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Checking if a File or Directory exists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FileInputStream class</a:t>
            </a:r>
          </a:p>
          <a:p>
            <a:r>
              <a:t>FileInputStream class is used to open and read files in Java.</a:t>
            </a:r>
          </a:p>
          <a:p>
            <a:r>
              <a:t>It allows checking if a file exists by attempting to open it.</a:t>
            </a:r>
          </a:p>
          <a:p>
            <a:pPr>
              <a:defRPr b="1"/>
            </a:pPr>
            <a:r>
              <a:t>FileReader class</a:t>
            </a:r>
          </a:p>
          <a:p>
            <a:r>
              <a:t>FileReader class is used for reading text files in Java.</a:t>
            </a:r>
          </a:p>
          <a:p>
            <a:r>
              <a:t>It can be utilized to check the existence of a file before reading its contents.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access 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File access modes in Java</a:t>
            </a:r>
          </a:p>
          <a:p>
            <a:r>
              <a:t>Java provides classes like FileInputStream and FileOutputStream for reading and writing files in different modes.</a:t>
            </a:r>
          </a:p>
          <a:p>
            <a:r>
              <a:t>FileInputStream allows reading files in various modes such as read-only, while FileOutputStream enables writing files in modes like append.</a:t>
            </a:r>
          </a:p>
          <a:p>
            <a:pPr>
              <a:defRPr b="1"/>
            </a:pPr>
            <a:r>
              <a:t>BufferedInputStream and BufferedOutputStream classes</a:t>
            </a:r>
          </a:p>
          <a:p>
            <a:r>
              <a:t>BufferedInputStream and BufferedOutputStream classes in Java provide buffering capabilities for efficient file reading and writing operations.</a:t>
            </a:r>
          </a:p>
          <a:p>
            <a:r>
              <a:t>They enhance performance by reducing the number of I/O operations required for file access.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from and writing to files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FileReader and FileWriter Classes</a:t>
            </a:r>
          </a:p>
          <a:p>
            <a:r>
              <a:t>FileReader class is used for reading characters from a file, while FileWriter class is used for writing characters to a file.</a:t>
            </a:r>
          </a:p>
          <a:p>
            <a:r>
              <a:t>These classes are commonly used for basic file input and output operations in Java.</a:t>
            </a:r>
          </a:p>
          <a:p>
            <a:pPr>
              <a:defRPr b="1"/>
            </a:pPr>
            <a:r>
              <a:t>BufferedInputStream and BufferedOutputStream Classes</a:t>
            </a:r>
          </a:p>
          <a:p>
            <a:r>
              <a:t>BufferedInputStream class reads data from an input stream more efficiently by buffering the input, and BufferedOutputStream class writes data to an output stream efficiently by buffering the output.</a:t>
            </a:r>
          </a:p>
          <a:p>
            <a:r>
              <a:t>These classes are useful for improving the performance of reading from and writing to files in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9: Using Generics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Classes and Concepts</a:t>
            </a:r>
          </a:p>
          <a:p>
            <a:r>
              <a:t>BufferedInputStream class: Mentioned in the context of installing JAVA IDE.</a:t>
            </a:r>
          </a:p>
          <a:p>
            <a:r>
              <a:t>BufferedOutputStream class: Referenced in the vector store between pages 355-357.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type 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Bounded Type Parameters in Java</a:t>
            </a:r>
          </a:p>
          <a:p>
            <a:r>
              <a:t>Bounded type parameters in Java allow you to restrict the types that can be used as type arguments in a generic class or method.</a:t>
            </a:r>
          </a:p>
          <a:p>
            <a:r>
              <a:t>These parameters are defined using the 'extends' keyword followed by the upper bound class or interface.</a:t>
            </a:r>
          </a:p>
          <a:p>
            <a:pPr>
              <a:defRPr b="1"/>
            </a:pPr>
            <a:r>
              <a:t>Implementing Bounded Type Parameters</a:t>
            </a:r>
          </a:p>
          <a:p>
            <a:r>
              <a:t>When implementing bounded type parameters, the specified type must extend a specific class or implement a particular interface.</a:t>
            </a:r>
          </a:p>
          <a:p>
            <a:r>
              <a:t>This restriction ensures that only certain types can be used as arguments, providing type safety and more precise control over the generic 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Inheritance and subtypes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Inheritance Definition</a:t>
            </a:r>
          </a:p>
          <a:p>
            <a:r>
              <a:t>Inheritance in Java refers to an object inheriting all properties and behaviors from its parent object, enabling code reuse.</a:t>
            </a:r>
          </a:p>
          <a:p>
            <a:r>
              <a:t>It is utilized to achieve polymorphism at runtime.</a:t>
            </a:r>
          </a:p>
          <a:p>
            <a:pPr>
              <a:defRPr b="1"/>
            </a:pPr>
            <a:r>
              <a:t>Polymorphism in Java</a:t>
            </a:r>
          </a:p>
          <a:p>
            <a:r>
              <a:t>Polymorphism allows the same task to be completed in different ways in Java.</a:t>
            </a:r>
          </a:p>
          <a:p>
            <a:r>
              <a:t>Method overloading and method overriding are used to achieve polymorphism in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inference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Type Inference in Java</a:t>
            </a:r>
          </a:p>
          <a:p>
            <a:r>
              <a:t>Type inference allows the compiler to deduce the type of a variable based on the value assigned to it, reducing the need for explicit type declarations.</a:t>
            </a:r>
          </a:p>
          <a:p>
            <a:r>
              <a:t>In Java, type inference is commonly used with lambda expressions to simplify code and improve readability.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Wildcards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ABC library</a:t>
            </a:r>
          </a:p>
          <a:p>
            <a:r>
              <a:t>Java ABC library is mentioned in the context, indicating a reference to Java libraries.</a:t>
            </a:r>
          </a:p>
          <a:p>
            <a:r>
              <a:t>It is part of the Java ecosystem for developers to utilize pre-built functionalities.</a:t>
            </a:r>
          </a:p>
          <a:p>
            <a:pPr>
              <a:defRPr b="1"/>
            </a:pPr>
            <a:r>
              <a:t>Java class library</a:t>
            </a:r>
          </a:p>
          <a:p>
            <a:r>
              <a:t>The Java class library is highlighted, showcasing the extensive set of classes available in Java.</a:t>
            </a:r>
          </a:p>
          <a:p>
            <a:r>
              <a:t>Developers can leverage these classes for various programming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Immutable String in Java</a:t>
            </a:r>
          </a:p>
          <a:p>
            <a:r>
              <a:t>String objects in Java are immutable to ensure data integrity and security, preventing unintended modifications.</a:t>
            </a:r>
          </a:p>
          <a:p>
            <a:r>
              <a:t>The immutability of strings allows for efficient memory management and thread safety in Java programs.</a:t>
            </a:r>
          </a:p>
          <a:p>
            <a:pPr>
              <a:defRPr b="1"/>
            </a:pPr>
            <a:r>
              <a:t>String Comparison</a:t>
            </a:r>
          </a:p>
          <a:p>
            <a:r>
              <a:t>String comparison in Java is performed using methods like equals() to check if two strings have the same content.</a:t>
            </a:r>
          </a:p>
          <a:p>
            <a:r>
              <a:t>Java provides methods like compareTo() for comparing strings based on their Unicode values.</a:t>
            </a:r>
          </a:p>
          <a:p>
            <a:pPr>
              <a:defRPr b="1"/>
            </a:pPr>
            <a:r>
              <a:t>String Concatenation</a:t>
            </a:r>
          </a:p>
          <a:p>
            <a:r>
              <a:t>String concatenation in Java involves combining multiple strings using the '+' operator or concat() method.</a:t>
            </a:r>
          </a:p>
          <a:p>
            <a:r>
              <a:t>The process of string concatenation creates a new string object in Java.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10: Multi-threading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cycle of a thread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Thread Life Cycle Overview</a:t>
            </a:r>
          </a:p>
          <a:p>
            <a:r>
              <a:t>Threads in Java have a life cycle that includes states like New, Runnable, Blocked, Waiting, Timed Waiting, and Terminated.</a:t>
            </a:r>
          </a:p>
          <a:p>
            <a:r>
              <a:t>Each state represents a specific stage in the execution of a thread, from creation to completion.</a:t>
            </a:r>
          </a:p>
          <a:p>
            <a:pPr>
              <a:defRPr b="1"/>
            </a:pPr>
            <a:r>
              <a:t>Thread States</a:t>
            </a:r>
          </a:p>
          <a:p>
            <a:r>
              <a:t>The New state is when a thread is created but not yet started. Runnable state indicates the thread is ready to run. Blocked state occurs when a thread is waiting for a monitor lock.</a:t>
            </a:r>
          </a:p>
          <a:p>
            <a:r>
              <a:t>Waiting, Timed Waiting, and Terminated states represent different stages of thread execution related to waiting for a condition, waiting with a timeout, and completion respectively.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 Synchronization</a:t>
            </a:r>
          </a:p>
          <a:p>
            <a:r>
              <a:t>Java provides synchronization to control access to shared resources among multiple threads.</a:t>
            </a:r>
          </a:p>
          <a:p>
            <a:r>
              <a:t>Synchronization in Java is achieved using the synchronized keyword or by using synchronized blocks.</a:t>
            </a:r>
          </a:p>
          <a:p>
            <a:pPr>
              <a:defRPr b="1"/>
            </a:pPr>
            <a:r>
              <a:t>Thread Safety</a:t>
            </a:r>
          </a:p>
          <a:p>
            <a:r>
              <a:t>Ensuring thread safety is crucial in multi-threaded environments to prevent data corruption.</a:t>
            </a:r>
          </a:p>
          <a:p>
            <a:r>
              <a:t>Synchronization helps in maintaining thread safety by allowing only one thread to access a shared resource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with Multi-threading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Java's Multi-threading Challenges</a:t>
            </a:r>
          </a:p>
          <a:p>
            <a:r>
              <a:t>Java's multi-threading can lead to issues like race conditions where multiple threads access shared data concurrently, potentially causing unexpected behavior.</a:t>
            </a:r>
          </a:p>
          <a:p>
            <a:r>
              <a:t>Synchronization mechanisms like locks and synchronized blocks are used to address multi-threading challenges in Java.</a:t>
            </a:r>
          </a:p>
          <a:p>
            <a:pPr>
              <a:defRPr b="1"/>
            </a:pPr>
            <a:r>
              <a:t>Thread Interference and Memory Consistency Errors</a:t>
            </a:r>
          </a:p>
          <a:p>
            <a:r>
              <a:t>Thread interference occurs when threads modify shared data concurrently, leading to unpredictable outcomes.</a:t>
            </a:r>
          </a:p>
          <a:p>
            <a:r>
              <a:t>Memory consistency errors may arise due to threads not seeing the most recent changes made by other threads, impacting program correctness.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Interrupting Threads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Thread Interruption in Java</a:t>
            </a:r>
          </a:p>
          <a:p>
            <a:r>
              <a:t>Interrupting a thread in Java involves using the interrupt() method to signal the thread to stop its execution.</a:t>
            </a:r>
          </a:p>
          <a:p>
            <a:r>
              <a:t>When a thread is interrupted, it can respond by either throwing an InterruptedException or checking the interrupted status using isInterrupted().</a:t>
            </a:r>
          </a:p>
          <a:p>
            <a:pPr>
              <a:defRPr b="1"/>
            </a:pPr>
            <a:r>
              <a:t>Handling Thread Interruption</a:t>
            </a:r>
          </a:p>
          <a:p>
            <a:r>
              <a:t>Threads can handle interruptions by catching InterruptedException and then deciding how to gracefully exit or continue execution.</a:t>
            </a:r>
          </a:p>
          <a:p>
            <a:r>
              <a:t>Proper handling of thread interruption is crucial for maintaining the stability and responsiveness of multi-threaded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4400" y="4662000"/>
            <a:ext cx="547200" cy="392400"/>
          </a:xfrm>
          <a:prstGeom prst="rect">
            <a:avLst/>
          </a:prstGeom>
          <a:noFill/>
        </p:spPr>
        <p:txBody>
          <a:bodyPr wrap="square" lIns="90000" rIns="90000" tIns="90000" bIns="90000" anchor="ctr">
            <a:noAutofit/>
          </a:bodyPr>
          <a:lstStyle/>
          <a:p>
            <a:pPr algn="r">
              <a:defRPr sz="1000">
                <a:solidFill>
                  <a:srgbClr val="595959"/>
                </a:solidFill>
                <a:latin typeface="Arial"/>
              </a:defRPr>
            </a:pPr>
            <a: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4" name="Google Shape;214;p39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Q&amp;A</a:t>
            </a: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2" name="Google Shape;222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Digital Attendance</a:t>
            </a:r>
            <a:endParaRPr/>
          </a:p>
        </p:txBody>
      </p:sp>
      <p:sp>
        <p:nvSpPr>
          <p:cNvPr id="220" name="Google Shape;220;p40"/>
          <p:cNvSpPr txBox="1">
            <a:spLocks noGrp="1"/>
          </p:cNvSpPr>
          <p:nvPr>
            <p:ph type="body" idx="1"/>
          </p:nvPr>
        </p:nvSpPr>
        <p:spPr>
          <a:xfrm>
            <a:off x="151275" y="642650"/>
            <a:ext cx="608816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It is mandatory for you to take both AM and PM digital attendance especially for WSQ courses.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>The trainer or administrator will show you the digital attendance QR code generated from TPG.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fortaa"/>
              <a:buChar char="●"/>
            </a:pPr>
            <a:r>
              <a:t>Please scan the QR code from your Singpass App and submit your attendance.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98</a:t>
            </a:r>
          </a:p>
        </p:txBody>
      </p:sp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250" y="906925"/>
            <a:ext cx="2843575" cy="341097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41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Final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Assessment</a:t>
            </a:r>
            <a:endParaRPr/>
          </a:p>
        </p:txBody>
      </p:sp>
      <p:sp>
        <p:nvSpPr>
          <p:cNvPr id="229" name="Google Shape;22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7" name="Google Shape;237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TRAQOM Survey</a:t>
            </a:r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9900" lvl="0" indent="-3937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>Access the survey here</a:t>
            </a:r>
            <a:endParaRPr dirty="0"/>
          </a:p>
          <a:p>
            <a:pPr marL="469900" lvl="0" indent="-3937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>Key in your Last four NRIC/FIN characters and the Six-digit course run ID to complete the survey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100</a:t>
            </a:r>
          </a:p>
        </p:txBody>
      </p:sp>
      <p:pic>
        <p:nvPicPr>
          <p:cNvPr id="238" name="Picture 2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275" y="1839350"/>
            <a:ext cx="3041800" cy="30154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4" name="Google Shape;244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Feedback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Kindly submit your course feedback below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https://goo.gl/R2eumq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101</a:t>
            </a:r>
          </a:p>
        </p:txBody>
      </p:sp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00" y="1731300"/>
            <a:ext cx="2732750" cy="273275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Google Shape;251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Support</a:t>
            </a:r>
            <a:endParaRPr dirty="0"/>
          </a:p>
        </p:txBody>
      </p:sp>
      <p:sp>
        <p:nvSpPr>
          <p:cNvPr id="252" name="Google Shape;252;p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If you have any enquiries during and after the class, you can contact us below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Email: enquiry@tertiaryinfotech.com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Tel: 61000613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Whatsapp: 61000613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7" name="Google Shape;25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103</a:t>
            </a:r>
          </a:p>
        </p:txBody>
      </p:sp>
      <p:sp>
        <p:nvSpPr>
          <p:cNvPr id="258" name="Google Shape;258;p45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Thank You!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Topic 1: Introduction to Java</a:t>
            </a:r>
          </a:p>
          <a:p>
            <a:pPr lvl="1"/>
            <a:r>
              <a:t>Editors and Tools</a:t>
            </a:r>
          </a:p>
          <a:p>
            <a:pPr lvl="1"/>
            <a:r>
              <a:t>Basic Syntax</a:t>
            </a:r>
          </a:p>
          <a:p>
            <a:pPr lvl="1"/>
            <a:r>
              <a:t>Language Syntax Properties</a:t>
            </a:r>
          </a:p>
          <a:p>
            <a:pPr lvl="1"/>
            <a:r>
              <a:t>Variables &amp; Datatypes &amp; Literals</a:t>
            </a:r>
          </a:p>
          <a:p>
            <a:pPr lvl="1"/>
            <a:r>
              <a:t>Operators</a:t>
            </a:r>
          </a:p>
          <a:p>
            <a:pPr lvl="1"/>
            <a:r>
              <a:t>Autoboxing and Unboxing</a:t>
            </a:r>
          </a:p>
          <a:p>
            <a:pPr lvl="1"/>
            <a:r>
              <a:t>Enums</a:t>
            </a:r>
          </a:p>
          <a:p>
            <a:pPr lvl="1"/>
            <a:r>
              <a:t>Arrays</a:t>
            </a:r>
          </a:p>
          <a:p>
            <a:pPr lvl="1"/>
            <a:r>
              <a:t>Strings</a:t>
            </a:r>
          </a:p>
          <a:p>
            <a:pPr lvl="1"/>
            <a:r>
              <a:t>Date and Time</a:t>
            </a:r>
          </a:p>
          <a:p>
            <a:pPr>
              <a:defRPr b="1"/>
            </a:pPr>
            <a:r>
              <a:t>Topic 2: Control Flow</a:t>
            </a:r>
          </a:p>
          <a:p>
            <a:pPr lvl="1"/>
            <a:r>
              <a:t>Statements, Expressions &amp; Blocks</a:t>
            </a:r>
          </a:p>
          <a:p>
            <a:pPr lvl="1"/>
            <a:r>
              <a:t>Flow Control statements</a:t>
            </a:r>
          </a:p>
          <a:p>
            <a:pPr lvl="1"/>
            <a:r>
              <a:t>Ternary Operator</a:t>
            </a:r>
          </a:p>
          <a:p>
            <a:pPr lvl="1"/>
            <a:r>
              <a:t>Loops statements</a:t>
            </a:r>
          </a:p>
          <a:p>
            <a:pPr lvl="1"/>
            <a:r>
              <a:t>Nested Loops statements</a:t>
            </a:r>
          </a:p>
          <a:p>
            <a:pPr lvl="1"/>
            <a:r>
              <a:t>Loop Control Statements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Topic 3: Object Oriented Programming</a:t>
            </a:r>
          </a:p>
          <a:p>
            <a:pPr lvl="1"/>
            <a:r>
              <a:t>Scope</a:t>
            </a:r>
          </a:p>
          <a:p>
            <a:pPr lvl="1"/>
            <a:r>
              <a:t>Classes &amp; Object</a:t>
            </a:r>
          </a:p>
          <a:p>
            <a:pPr lvl="1"/>
            <a:r>
              <a:t>Methods</a:t>
            </a:r>
          </a:p>
          <a:p>
            <a:pPr lvl="1"/>
            <a:r>
              <a:t>Constructors</a:t>
            </a:r>
          </a:p>
          <a:p>
            <a:pPr lvl="1"/>
            <a:r>
              <a:t>Access Modifiers</a:t>
            </a:r>
          </a:p>
          <a:p>
            <a:pPr lvl="1"/>
            <a:r>
              <a:t>‘this’ keyword</a:t>
            </a:r>
          </a:p>
          <a:p>
            <a:pPr lvl="1"/>
            <a:r>
              <a:t>Passing by Value</a:t>
            </a:r>
          </a:p>
          <a:p>
            <a:pPr lvl="1"/>
            <a:r>
              <a:t>Encapsulation</a:t>
            </a:r>
          </a:p>
          <a:p>
            <a:pPr lvl="1"/>
            <a:r>
              <a:t>Inheritance</a:t>
            </a:r>
          </a:p>
          <a:p>
            <a:pPr lvl="1"/>
            <a:r>
              <a:t>Abstraction</a:t>
            </a:r>
          </a:p>
          <a:p>
            <a:pPr lvl="1"/>
            <a:r>
              <a:t>Interface</a:t>
            </a:r>
          </a:p>
          <a:p>
            <a:pPr lvl="1"/>
            <a:r>
              <a:t>Polymorphism</a:t>
            </a:r>
          </a:p>
          <a:p>
            <a:pPr>
              <a:defRPr b="1"/>
            </a:pPr>
            <a:r>
              <a:t>Topic 4: Data Structures</a:t>
            </a:r>
          </a:p>
          <a:p>
            <a:pPr lvl="1"/>
            <a:r>
              <a:t>Static &amp; Dynamic Array</a:t>
            </a:r>
          </a:p>
          <a:p>
            <a:pPr lvl="1"/>
            <a:r>
              <a:t>N-Dimensional Array</a:t>
            </a:r>
          </a:p>
          <a:p>
            <a:pPr lvl="1"/>
            <a:r>
              <a:t>Basic Operations on Arrays</a:t>
            </a:r>
          </a:p>
          <a:p>
            <a:pPr lvl="1"/>
            <a:r>
              <a:t>Basic operations on Linked List</a:t>
            </a:r>
          </a:p>
          <a:p>
            <a:pPr lvl="1"/>
            <a:r>
              <a:t>Arrays &amp; Linked List</a:t>
            </a:r>
          </a:p>
          <a:p>
            <a:pPr lvl="1"/>
            <a:r>
              <a:t>Types of Linked List</a:t>
            </a:r>
          </a:p>
          <a:p>
            <a:pPr lvl="1"/>
            <a:r>
              <a:t>Stacks &amp; Queues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Topic 5: Developing an API</a:t>
            </a:r>
          </a:p>
          <a:p>
            <a:pPr lvl="1"/>
            <a:r>
              <a:t>Design the API architecture</a:t>
            </a:r>
          </a:p>
          <a:p>
            <a:pPr lvl="1"/>
            <a:r>
              <a:t>Develop the API</a:t>
            </a:r>
          </a:p>
          <a:p>
            <a:pPr lvl="1"/>
            <a:r>
              <a:t>Test the API</a:t>
            </a:r>
          </a:p>
          <a:p>
            <a:pPr lvl="1"/>
            <a:r>
              <a:t>Monitor the API and iterate on feedback</a:t>
            </a:r>
          </a:p>
          <a:p>
            <a:pPr>
              <a:defRPr b="1"/>
            </a:pPr>
            <a:r>
              <a:t>Topic 6: Debugging Java Applications</a:t>
            </a:r>
          </a:p>
          <a:p>
            <a:pPr lvl="1"/>
            <a:r>
              <a:t>What is Debugging?</a:t>
            </a:r>
          </a:p>
          <a:p>
            <a:pPr lvl="1"/>
            <a:r>
              <a:t>Examining the code</a:t>
            </a:r>
          </a:p>
          <a:p>
            <a:pPr lvl="1"/>
            <a:r>
              <a:t>Setting breakpoints</a:t>
            </a:r>
          </a:p>
          <a:p>
            <a:pPr lvl="1"/>
            <a:r>
              <a:t>Running the program in debug mode</a:t>
            </a:r>
          </a:p>
          <a:p>
            <a:pPr lvl="1"/>
            <a:r>
              <a:t>Analyze the program state</a:t>
            </a:r>
          </a:p>
          <a:p>
            <a:pPr lvl="1"/>
            <a:r>
              <a:t>Step through the program</a:t>
            </a:r>
          </a:p>
          <a:p>
            <a:pPr lvl="1"/>
            <a:r>
              <a:t>Stopping the debugging session and rerun the program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Topic 7: Exception Handling</a:t>
            </a:r>
          </a:p>
          <a:p>
            <a:pPr lvl="1"/>
            <a:r>
              <a:t>Exception keywords</a:t>
            </a:r>
          </a:p>
          <a:p>
            <a:pPr lvl="1"/>
            <a:r>
              <a:t>Nested exceptions</a:t>
            </a:r>
          </a:p>
          <a:p>
            <a:pPr lvl="1"/>
            <a:r>
              <a:t>Throwing exceptions</a:t>
            </a:r>
          </a:p>
          <a:p>
            <a:pPr lvl="1"/>
            <a:r>
              <a:t>Exception propagation</a:t>
            </a:r>
          </a:p>
          <a:p>
            <a:pPr lvl="1"/>
            <a:r>
              <a:t>Throws clause</a:t>
            </a:r>
          </a:p>
          <a:p>
            <a:pPr lvl="1"/>
            <a:r>
              <a:t>Custom exceptions</a:t>
            </a:r>
          </a:p>
          <a:p>
            <a:pPr lvl="1"/>
            <a:r>
              <a:t>Chaining exceptions</a:t>
            </a:r>
          </a:p>
          <a:p>
            <a:pPr lvl="1"/>
            <a:r>
              <a:t>Exceptions with polymorphism</a:t>
            </a:r>
          </a:p>
          <a:p>
            <a:pPr>
              <a:defRPr b="1"/>
            </a:pPr>
            <a:r>
              <a:t>Topic 8: File Operations</a:t>
            </a:r>
          </a:p>
          <a:p>
            <a:pPr lvl="1"/>
            <a:r>
              <a:t>File paths</a:t>
            </a:r>
          </a:p>
          <a:p>
            <a:pPr lvl="1"/>
            <a:r>
              <a:t>File metadata</a:t>
            </a:r>
          </a:p>
          <a:p>
            <a:pPr lvl="1"/>
            <a:r>
              <a:t>Creating regular and temporary files</a:t>
            </a:r>
          </a:p>
          <a:p>
            <a:pPr lvl="1"/>
            <a:r>
              <a:t>The try-with-resources statement</a:t>
            </a:r>
          </a:p>
          <a:p>
            <a:pPr lvl="1"/>
            <a:r>
              <a:t>Checking if a File or Directory exists</a:t>
            </a:r>
          </a:p>
          <a:p>
            <a:pPr lvl="1"/>
            <a:r>
              <a:t>File access modes</a:t>
            </a:r>
          </a:p>
          <a:p>
            <a:pPr lvl="1"/>
            <a:r>
              <a:t>Reading from and writing to files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b="1"/>
            </a:pPr>
            <a:r>
              <a:t>Topic 9: Using Generics</a:t>
            </a:r>
          </a:p>
          <a:p>
            <a:pPr lvl="1"/>
            <a:r>
              <a:t>Generic types</a:t>
            </a:r>
          </a:p>
          <a:p>
            <a:pPr lvl="1"/>
            <a:r>
              <a:t>Bounded type parameters</a:t>
            </a:r>
          </a:p>
          <a:p>
            <a:pPr lvl="1"/>
            <a:r>
              <a:t>Inheritance and subtypes</a:t>
            </a:r>
          </a:p>
          <a:p>
            <a:pPr lvl="1"/>
            <a:r>
              <a:t>Type inference</a:t>
            </a:r>
          </a:p>
          <a:p>
            <a:pPr lvl="1"/>
            <a:r>
              <a:t>Wildcards</a:t>
            </a:r>
          </a:p>
          <a:p>
            <a:pPr lvl="1"/>
            <a:r>
              <a:t>Restrictions</a:t>
            </a:r>
          </a:p>
          <a:p>
            <a:pPr>
              <a:defRPr b="1"/>
            </a:pPr>
            <a:r>
              <a:t>Topic 10: Multi-threading</a:t>
            </a:r>
          </a:p>
          <a:p>
            <a:pPr lvl="1"/>
            <a:r>
              <a:t>Life cycle of a thread</a:t>
            </a:r>
          </a:p>
          <a:p>
            <a:pPr lvl="1"/>
            <a:r>
              <a:t>Synchronization</a:t>
            </a:r>
          </a:p>
          <a:p>
            <a:pPr lvl="1"/>
            <a:r>
              <a:t>Issues with Multi-threading</a:t>
            </a:r>
          </a:p>
          <a:p>
            <a:pPr lvl="1"/>
            <a:r>
              <a:t>Interrupting Threads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WSQ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627</Words>
  <Application>Microsoft Office PowerPoint</Application>
  <PresentationFormat>On-screen Show (16:9)</PresentationFormat>
  <Paragraphs>141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Comfortaa</vt:lpstr>
      <vt:lpstr>Master WSQ Slides Template</vt:lpstr>
      <vt:lpstr>&lt;COURSE_TITLE&gt;</vt:lpstr>
      <vt:lpstr>Digital Attendance</vt:lpstr>
      <vt:lpstr>About the Trainer</vt:lpstr>
      <vt:lpstr>Let's Know Each Other...</vt:lpstr>
      <vt:lpstr>Ground Rules</vt:lpstr>
      <vt:lpstr>Lesson Plan</vt:lpstr>
      <vt:lpstr>Lesson Plan</vt:lpstr>
      <vt:lpstr>Skills Framework</vt:lpstr>
      <vt:lpstr>Skills Framework TSC</vt:lpstr>
      <vt:lpstr>Learning Outcomes</vt:lpstr>
      <vt:lpstr>Course Outline</vt:lpstr>
      <vt:lpstr>Final Assessment</vt:lpstr>
      <vt:lpstr>Access Google Classroom LMS</vt:lpstr>
      <vt:lpstr>CERTIFICATE</vt:lpstr>
      <vt:lpstr>Topics</vt:lpstr>
      <vt:lpstr>Summary Q&amp;A</vt:lpstr>
      <vt:lpstr>Digital Attendance</vt:lpstr>
      <vt:lpstr>Final  Assessment</vt:lpstr>
      <vt:lpstr>TRAQOM Survey</vt:lpstr>
      <vt:lpstr>Feedback</vt:lpstr>
      <vt:lpstr>Support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Derrick Lim</cp:lastModifiedBy>
  <cp:revision>19</cp:revision>
  <dcterms:modified xsi:type="dcterms:W3CDTF">2024-11-14T02:41:08Z</dcterms:modified>
</cp:coreProperties>
</file>